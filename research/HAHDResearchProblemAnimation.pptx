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4"/>
  </p:normalViewPr>
  <p:slideViewPr>
    <p:cSldViewPr snapToGrid="0">
      <p:cViewPr>
        <p:scale>
          <a:sx n="25" d="100"/>
          <a:sy n="25" d="100"/>
        </p:scale>
        <p:origin x="2864" y="2248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373744-1C85-5B49-9B7A-1CC627EF744C}" type="datetimeFigureOut">
              <a:rPr lang="en-US" smtClean="0"/>
              <a:t>10/4/25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E6AF8A-00E4-7F4C-BEF2-EF8755535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280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E6AF8A-00E4-7F4C-BEF2-EF87555356B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206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E92F4-CDCC-69D3-DFB0-20C958225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1CCBB0-D04B-A875-7819-F981AF5F2F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6D17A-BE06-56D8-CA30-B8BC7F250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3E7A1-01B2-594D-91B0-2611A55A0478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A9C86-7261-4C41-0589-EE2CD56B4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45DCA-97EB-1A24-77DC-73D8DC79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F6965-6E23-A749-B7AF-4A5AE3545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576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3BD14-9FF5-83D2-E45D-2F8018B55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73268-6326-AD13-5953-5CB41D235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F726A-9F0E-5395-F4A9-694A6F46E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3E7A1-01B2-594D-91B0-2611A55A0478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275B9-73D9-828A-42E4-33357438B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080D4-709C-6BED-525D-DC3CE5556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F6965-6E23-A749-B7AF-4A5AE3545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029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91163-76AE-C6F3-F989-3DC4A5FFA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6CD7C-9D71-A061-A7FC-BE7DD90CC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C59E7-69ED-F858-BF1A-BF6C5E126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3E7A1-01B2-594D-91B0-2611A55A0478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22D8A-36FD-E3FC-5AF4-7D680374C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2B499-EEFF-3658-3F97-1B98BE0FB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F6965-6E23-A749-B7AF-4A5AE3545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505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16AF1-3379-9F45-D491-099F00BE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BAE45-F14A-D260-68B8-E79A083A86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1B511-D75C-DE74-92D9-7F0B1A182F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1255F-621E-F17C-A392-380356474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3E7A1-01B2-594D-91B0-2611A55A0478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C3AA5-B94A-D810-8C74-6032D5867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A7EB5-8D0F-8125-C6B4-9B4286163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F6965-6E23-A749-B7AF-4A5AE3545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501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B22AC-818C-B8A4-C9E1-28E3B9C8F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6F2E93-EC1E-B2B5-A6D1-E10E5A9AA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A332F-7730-E346-5C50-AF4CCE6618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DAAFB0-EE31-5D30-1AA7-8EFF94A610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16E967-04AD-D6B8-333C-96F455F7CF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96C9C9-A987-C54B-CA53-B3D2DB879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3E7A1-01B2-594D-91B0-2611A55A0478}" type="datetimeFigureOut">
              <a:rPr lang="en-US" smtClean="0"/>
              <a:t>9/30/25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E96AD2-E0D7-3322-63EF-DCC3FC996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E02345-770D-A2C7-75B1-DFFE82687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F6965-6E23-A749-B7AF-4A5AE3545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811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89B37-5823-11FB-F47F-33979BBFB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3B6A6A-C6B4-1025-CE6C-E43817A2A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3E7A1-01B2-594D-91B0-2611A55A0478}" type="datetimeFigureOut">
              <a:rPr lang="en-US" smtClean="0"/>
              <a:t>9/30/25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D4B53C-4FCF-01EE-30A4-52CD5BB59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FAA0AC-B0E9-94B9-ECC6-47295E9B4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F6965-6E23-A749-B7AF-4A5AE3545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570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24120-7CC1-50BE-13C4-74CC96081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3E7A1-01B2-594D-91B0-2611A55A0478}" type="datetimeFigureOut">
              <a:rPr lang="en-US" smtClean="0"/>
              <a:t>9/30/25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833E39-D00D-B4FC-AB49-89D16D0F8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674DF-1D69-82AF-1214-85AC057C5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F6965-6E23-A749-B7AF-4A5AE3545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474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C02C0-A1D7-22AD-AEE6-707781DA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745DC-AEF7-DBB4-FC30-D2D0844C3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3F21D2-2397-9A89-5DA1-58B320AB4F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E04839-CC72-DCA7-09A1-97DF05C0E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3E7A1-01B2-594D-91B0-2611A55A0478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5199F-5F16-10E4-33DA-E8130AB16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3CB2C-C885-CB3C-21B5-9D6F89333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F6965-6E23-A749-B7AF-4A5AE3545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187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445A0-EE8A-C5B3-9EBD-2B985E123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B57730-0EB2-D0C7-D9C1-60E70E7B86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C92B7-B42A-3129-6088-A5AD797F20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4F857F-A1C9-85B5-4B00-362278ED7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3E7A1-01B2-594D-91B0-2611A55A0478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8DAA5A-CD3B-B683-80D0-1CE1B8CDB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DA848F-B639-D657-982E-729F7D4B6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F6965-6E23-A749-B7AF-4A5AE3545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028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0CBF2-5A9B-D14F-2FC8-8BD508235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1B2BF0-1BCC-2ACC-3C42-4C618BD82D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479D8-1CBE-31C1-F34A-43A28C04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3E7A1-01B2-594D-91B0-2611A55A0478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DF3FA-6907-79D1-E084-26F5100BE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F621D-2443-1403-8BED-ECD029ED8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F6965-6E23-A749-B7AF-4A5AE3545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6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B4470-D248-0013-5BC8-3F5B5CF5EA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250D43-E96B-705B-8CD8-6DD6C4FA48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640B2-6FF0-586B-C20B-E9506EA9A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3E7A1-01B2-594D-91B0-2611A55A0478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76225-AC57-1222-1B5A-F63995A4A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6D46D-64F4-E701-9B56-9F25A072C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F6965-6E23-A749-B7AF-4A5AE3545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210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F9097C-9CDA-FAC5-BA39-FB55F4676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DD932-86AD-3967-C5E3-CA7F99986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33799-2C6D-7A52-EA6C-D65F3ECDB7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03E7A1-01B2-594D-91B0-2611A55A0478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937CD-721B-6506-56F7-C5DA387F45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337E2-1936-3847-B75A-1F4D7E4379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FF6965-6E23-A749-B7AF-4A5AE354577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8E7016-5FDD-26F1-0BFC-DB004E93BC2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59213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Non-Public</a:t>
            </a:r>
          </a:p>
        </p:txBody>
      </p:sp>
    </p:spTree>
    <p:extLst>
      <p:ext uri="{BB962C8B-B14F-4D97-AF65-F5344CB8AC3E}">
        <p14:creationId xmlns:p14="http://schemas.microsoft.com/office/powerpoint/2010/main" val="116219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12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1.png"/><Relationship Id="rId5" Type="http://schemas.openxmlformats.org/officeDocument/2006/relationships/image" Target="../media/image3.png"/><Relationship Id="rId10" Type="http://schemas.openxmlformats.org/officeDocument/2006/relationships/image" Target="../media/image6.svg"/><Relationship Id="rId4" Type="http://schemas.openxmlformats.org/officeDocument/2006/relationships/image" Target="../media/image8.svg"/><Relationship Id="rId9" Type="http://schemas.openxmlformats.org/officeDocument/2006/relationships/image" Target="../media/image5.png"/><Relationship Id="rId1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svg"/><Relationship Id="rId7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02898-1368-2239-CA2E-BCB5FA96E8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290094-F532-7206-110E-CD890ADCC0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E70D8B5-8F13-E2F4-B170-000FAF84E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064" y="1443898"/>
            <a:ext cx="574652" cy="47887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B58912C-03BA-1491-7193-6B0FC09706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1716" y="3098800"/>
            <a:ext cx="952500" cy="6604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5E4EADB-8C34-7A56-E86E-C87086D755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2792" y="4066848"/>
            <a:ext cx="952500" cy="660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3F170A3-F355-639D-5AE7-A62F4BA150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2443" y="2328686"/>
            <a:ext cx="77724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205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D7D696F8-00EF-5A64-E53E-294093789AB8}"/>
              </a:ext>
            </a:extLst>
          </p:cNvPr>
          <p:cNvGrpSpPr/>
          <p:nvPr/>
        </p:nvGrpSpPr>
        <p:grpSpPr>
          <a:xfrm>
            <a:off x="932294" y="4005144"/>
            <a:ext cx="14737640" cy="1104741"/>
            <a:chOff x="685801" y="3431162"/>
            <a:chExt cx="14737640" cy="1104741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CB28EE9-46A4-2C78-FDFB-D1223453DB42}"/>
                </a:ext>
              </a:extLst>
            </p:cNvPr>
            <p:cNvGrpSpPr/>
            <p:nvPr/>
          </p:nvGrpSpPr>
          <p:grpSpPr>
            <a:xfrm>
              <a:off x="685801" y="3672303"/>
              <a:ext cx="6600213" cy="863600"/>
              <a:chOff x="-8836887" y="3336234"/>
              <a:chExt cx="6600213" cy="863600"/>
            </a:xfrm>
          </p:grpSpPr>
          <p:pic>
            <p:nvPicPr>
              <p:cNvPr id="24" name="Graphic 23">
                <a:extLst>
                  <a:ext uri="{FF2B5EF4-FFF2-40B4-BE49-F238E27FC236}">
                    <a16:creationId xmlns:a16="http://schemas.microsoft.com/office/drawing/2014/main" id="{CE595DA9-2DD0-DA56-26EF-4A46AE5F92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r="45137"/>
              <a:stretch/>
            </p:blipFill>
            <p:spPr>
              <a:xfrm>
                <a:off x="-6052537" y="3336234"/>
                <a:ext cx="3815863" cy="863600"/>
              </a:xfrm>
              <a:prstGeom prst="rect">
                <a:avLst/>
              </a:prstGeom>
            </p:spPr>
          </p:pic>
          <p:pic>
            <p:nvPicPr>
              <p:cNvPr id="25" name="Graphic 24">
                <a:extLst>
                  <a:ext uri="{FF2B5EF4-FFF2-40B4-BE49-F238E27FC236}">
                    <a16:creationId xmlns:a16="http://schemas.microsoft.com/office/drawing/2014/main" id="{1DB06A86-72E7-1ADD-3708-648554A749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l="62582"/>
              <a:stretch/>
            </p:blipFill>
            <p:spPr>
              <a:xfrm>
                <a:off x="-8836887" y="3336234"/>
                <a:ext cx="2908291" cy="863600"/>
              </a:xfrm>
              <a:prstGeom prst="rect">
                <a:avLst/>
              </a:prstGeom>
            </p:spPr>
          </p:pic>
        </p:grp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D5C64A52-3FF9-7C10-A456-5FA06460C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62582"/>
            <a:stretch/>
          </p:blipFill>
          <p:spPr>
            <a:xfrm>
              <a:off x="7097328" y="3672303"/>
              <a:ext cx="2908291" cy="863600"/>
            </a:xfrm>
            <a:prstGeom prst="rect">
              <a:avLst/>
            </a:prstGeom>
          </p:spPr>
        </p:pic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78401F58-0E8C-DF19-C4BD-457D425A00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27105" t="-27923"/>
            <a:stretch/>
          </p:blipFill>
          <p:spPr>
            <a:xfrm>
              <a:off x="9757737" y="3431162"/>
              <a:ext cx="5665704" cy="1104741"/>
            </a:xfrm>
            <a:prstGeom prst="rect">
              <a:avLst/>
            </a:prstGeom>
          </p:spPr>
        </p:pic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B26C9879-0504-D126-CE1A-8E850EF882D1}"/>
              </a:ext>
            </a:extLst>
          </p:cNvPr>
          <p:cNvSpPr/>
          <p:nvPr/>
        </p:nvSpPr>
        <p:spPr>
          <a:xfrm>
            <a:off x="771628" y="4005144"/>
            <a:ext cx="1936376" cy="1334463"/>
          </a:xfrm>
          <a:prstGeom prst="rect">
            <a:avLst/>
          </a:prstGeom>
          <a:noFill/>
          <a:ln w="381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CCEF43F3-E5AC-A649-AE4E-ED442AD9C6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0557" y="4426130"/>
            <a:ext cx="710320" cy="492489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CF8F6397-8A02-3E06-A09D-BBF36BFC44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795361" y="4480005"/>
            <a:ext cx="285750" cy="47625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96F18598-EA90-1D82-BCC8-C4684D00E94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6037" y="4426130"/>
            <a:ext cx="714840" cy="495623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A5B171FF-BF96-2512-171E-C33A62239504}"/>
              </a:ext>
            </a:extLst>
          </p:cNvPr>
          <p:cNvSpPr/>
          <p:nvPr/>
        </p:nvSpPr>
        <p:spPr>
          <a:xfrm>
            <a:off x="0" y="1"/>
            <a:ext cx="93229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61B57ED7-3CD9-EAEC-79E0-1DBAFF11F89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24228" y="4557514"/>
            <a:ext cx="402978" cy="33581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9826130-A3DE-5F15-95BD-E817D5642958}"/>
              </a:ext>
            </a:extLst>
          </p:cNvPr>
          <p:cNvSpPr/>
          <p:nvPr/>
        </p:nvSpPr>
        <p:spPr>
          <a:xfrm>
            <a:off x="2821554" y="0"/>
            <a:ext cx="942190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1F0CE7EA-6D4D-B7B0-5E55-326E9B1EC9B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4684" y="3471586"/>
            <a:ext cx="1037545" cy="864621"/>
          </a:xfrm>
          <a:prstGeom prst="rect">
            <a:avLst/>
          </a:prstGeom>
        </p:spPr>
      </p:pic>
      <p:sp>
        <p:nvSpPr>
          <p:cNvPr id="40" name="Oval 39">
            <a:extLst>
              <a:ext uri="{FF2B5EF4-FFF2-40B4-BE49-F238E27FC236}">
                <a16:creationId xmlns:a16="http://schemas.microsoft.com/office/drawing/2014/main" id="{62886E50-642B-FB3B-9DDE-7CC0F2E17CBB}"/>
              </a:ext>
            </a:extLst>
          </p:cNvPr>
          <p:cNvSpPr/>
          <p:nvPr/>
        </p:nvSpPr>
        <p:spPr>
          <a:xfrm>
            <a:off x="1088136" y="3734171"/>
            <a:ext cx="91440" cy="914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D8ED4BA-469A-7A23-86DC-AF486D7B7D92}"/>
              </a:ext>
            </a:extLst>
          </p:cNvPr>
          <p:cNvSpPr/>
          <p:nvPr/>
        </p:nvSpPr>
        <p:spPr>
          <a:xfrm>
            <a:off x="3174127" y="2221609"/>
            <a:ext cx="2264859" cy="356707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FF0F4D-99BC-7323-D234-8CC11877FB43}"/>
              </a:ext>
            </a:extLst>
          </p:cNvPr>
          <p:cNvSpPr txBox="1"/>
          <p:nvPr/>
        </p:nvSpPr>
        <p:spPr>
          <a:xfrm>
            <a:off x="3491988" y="2400973"/>
            <a:ext cx="19469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Base Optimizer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30AD3E4-3BF5-EBE9-DA77-25F386C5E12B}"/>
              </a:ext>
            </a:extLst>
          </p:cNvPr>
          <p:cNvSpPr/>
          <p:nvPr/>
        </p:nvSpPr>
        <p:spPr>
          <a:xfrm>
            <a:off x="6765561" y="2221609"/>
            <a:ext cx="2264859" cy="356707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C1EF148-38DC-151D-45DE-CA9705207A96}"/>
              </a:ext>
            </a:extLst>
          </p:cNvPr>
          <p:cNvSpPr txBox="1"/>
          <p:nvPr/>
        </p:nvSpPr>
        <p:spPr>
          <a:xfrm>
            <a:off x="7512378" y="2330212"/>
            <a:ext cx="2068131" cy="347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6256F9-95FC-CB87-574F-ECB228D29856}"/>
              </a:ext>
            </a:extLst>
          </p:cNvPr>
          <p:cNvSpPr txBox="1"/>
          <p:nvPr/>
        </p:nvSpPr>
        <p:spPr>
          <a:xfrm>
            <a:off x="6990728" y="2623481"/>
            <a:ext cx="2242536" cy="347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(Mesa Optimizer)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AD01D39-F1BF-0344-4313-12A54CA26608}"/>
              </a:ext>
            </a:extLst>
          </p:cNvPr>
          <p:cNvSpPr txBox="1"/>
          <p:nvPr/>
        </p:nvSpPr>
        <p:spPr>
          <a:xfrm>
            <a:off x="3463228" y="4390932"/>
            <a:ext cx="202421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Minimize binary classification loss: correctly predict hazard/no-hazard at each timestamp 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67CAC25-9EFF-BCE8-AD90-95854BBE2467}"/>
              </a:ext>
            </a:extLst>
          </p:cNvPr>
          <p:cNvSpPr txBox="1"/>
          <p:nvPr/>
        </p:nvSpPr>
        <p:spPr>
          <a:xfrm>
            <a:off x="6392486" y="4460341"/>
            <a:ext cx="2746425" cy="1030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50000"/>
              </a:lnSpc>
            </a:pPr>
            <a:r>
              <a:rPr lang="en-US" sz="1400" dirty="0"/>
              <a:t>Big objects = hazardous</a:t>
            </a:r>
          </a:p>
          <a:p>
            <a:pPr marL="457200">
              <a:lnSpc>
                <a:spcPct val="150000"/>
              </a:lnSpc>
            </a:pPr>
            <a:r>
              <a:rPr lang="en-US" sz="1400" dirty="0"/>
              <a:t>Things in center=important</a:t>
            </a:r>
          </a:p>
          <a:p>
            <a:pPr marL="457200">
              <a:lnSpc>
                <a:spcPct val="150000"/>
              </a:lnSpc>
            </a:pPr>
            <a:r>
              <a:rPr lang="en-US" sz="1400" dirty="0"/>
              <a:t>Fast movement = danger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CC9D2E6-B8A5-C69F-7ED4-84EA8AF41863}"/>
              </a:ext>
            </a:extLst>
          </p:cNvPr>
          <p:cNvSpPr txBox="1"/>
          <p:nvPr/>
        </p:nvSpPr>
        <p:spPr>
          <a:xfrm>
            <a:off x="3436983" y="3556789"/>
            <a:ext cx="19469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 Objective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FD9DA4A-E57E-B130-5026-BBB93929AD12}"/>
              </a:ext>
            </a:extLst>
          </p:cNvPr>
          <p:cNvSpPr txBox="1"/>
          <p:nvPr/>
        </p:nvSpPr>
        <p:spPr>
          <a:xfrm>
            <a:off x="7121740" y="3584434"/>
            <a:ext cx="19469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Mesa Objective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55C174E-8C0F-C9E1-92D7-4EB56D36BCA5}"/>
              </a:ext>
            </a:extLst>
          </p:cNvPr>
          <p:cNvGrpSpPr/>
          <p:nvPr/>
        </p:nvGrpSpPr>
        <p:grpSpPr>
          <a:xfrm>
            <a:off x="2105585" y="4295909"/>
            <a:ext cx="1439162" cy="782757"/>
            <a:chOff x="1949987" y="5004270"/>
            <a:chExt cx="1439162" cy="782757"/>
          </a:xfrm>
        </p:grpSpPr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ABA5639E-8526-5BB2-2F19-3BA6A4B03749}"/>
                </a:ext>
              </a:extLst>
            </p:cNvPr>
            <p:cNvCxnSpPr>
              <a:cxnSpLocks/>
            </p:cNvCxnSpPr>
            <p:nvPr/>
          </p:nvCxnSpPr>
          <p:spPr>
            <a:xfrm>
              <a:off x="1949987" y="5004270"/>
              <a:ext cx="1416211" cy="782757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922E682-BC29-78E3-FCBD-D27F07607E89}"/>
                </a:ext>
              </a:extLst>
            </p:cNvPr>
            <p:cNvSpPr txBox="1"/>
            <p:nvPr/>
          </p:nvSpPr>
          <p:spPr>
            <a:xfrm rot="1727617">
              <a:off x="2025442" y="5076323"/>
              <a:ext cx="13637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Outer Alignment </a:t>
              </a: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D0D3E29B-98F0-311E-3B54-7AB3FFD37BA3}"/>
              </a:ext>
            </a:extLst>
          </p:cNvPr>
          <p:cNvSpPr txBox="1"/>
          <p:nvPr/>
        </p:nvSpPr>
        <p:spPr>
          <a:xfrm>
            <a:off x="5434747" y="4941817"/>
            <a:ext cx="13308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Inner Alignment 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D9CF2D9C-583D-B8F3-C49E-5CEF6F42DE89}"/>
              </a:ext>
            </a:extLst>
          </p:cNvPr>
          <p:cNvCxnSpPr>
            <a:cxnSpLocks/>
          </p:cNvCxnSpPr>
          <p:nvPr/>
        </p:nvCxnSpPr>
        <p:spPr>
          <a:xfrm>
            <a:off x="5215615" y="5261143"/>
            <a:ext cx="173279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1" name="Graphic 70">
            <a:extLst>
              <a:ext uri="{FF2B5EF4-FFF2-40B4-BE49-F238E27FC236}">
                <a16:creationId xmlns:a16="http://schemas.microsoft.com/office/drawing/2014/main" id="{55D69D02-AC75-9BCB-FCE5-451CDFE2DA8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04684" y="2246428"/>
            <a:ext cx="1090272" cy="908560"/>
          </a:xfrm>
          <a:prstGeom prst="rect">
            <a:avLst/>
          </a:prstGeom>
        </p:spPr>
      </p:pic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A0B5575-EC9C-63D3-013C-F30AD962C8EA}"/>
              </a:ext>
            </a:extLst>
          </p:cNvPr>
          <p:cNvCxnSpPr>
            <a:cxnSpLocks/>
          </p:cNvCxnSpPr>
          <p:nvPr/>
        </p:nvCxnSpPr>
        <p:spPr>
          <a:xfrm>
            <a:off x="5752092" y="3892105"/>
            <a:ext cx="95156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70FC38A5-FAC6-73C4-D787-71776F7820A0}"/>
              </a:ext>
            </a:extLst>
          </p:cNvPr>
          <p:cNvSpPr txBox="1"/>
          <p:nvPr/>
        </p:nvSpPr>
        <p:spPr>
          <a:xfrm>
            <a:off x="5824004" y="3655532"/>
            <a:ext cx="8034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Optimizes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CF986BB-B177-3327-68E1-012FB497DFCF}"/>
              </a:ext>
            </a:extLst>
          </p:cNvPr>
          <p:cNvCxnSpPr>
            <a:cxnSpLocks/>
          </p:cNvCxnSpPr>
          <p:nvPr/>
        </p:nvCxnSpPr>
        <p:spPr>
          <a:xfrm>
            <a:off x="9092328" y="3897951"/>
            <a:ext cx="604122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895C0D88-FCBC-A0E1-B885-FBBF371D0CC3}"/>
              </a:ext>
            </a:extLst>
          </p:cNvPr>
          <p:cNvSpPr txBox="1"/>
          <p:nvPr/>
        </p:nvSpPr>
        <p:spPr>
          <a:xfrm>
            <a:off x="9164240" y="3661378"/>
            <a:ext cx="4555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Acts</a:t>
            </a:r>
          </a:p>
        </p:txBody>
      </p:sp>
    </p:spTree>
    <p:extLst>
      <p:ext uri="{BB962C8B-B14F-4D97-AF65-F5344CB8AC3E}">
        <p14:creationId xmlns:p14="http://schemas.microsoft.com/office/powerpoint/2010/main" val="797345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3.33333E-6 L -1.078 0.0007 " pathEditMode="relative" rAng="0" ptsTypes="AA">
                                      <p:cBhvr>
                                        <p:cTn id="10" dur="1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906" y="2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2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0 L 0.00013 0.02199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88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2.96296E-6 L -1.07096 -0.0037 " pathEditMode="relative" rAng="0" ptsTypes="AA">
                                      <p:cBhvr>
                                        <p:cTn id="14" dur="1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555" y="-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" dur="2000" fill="hold"/>
                                        <p:tgtEl>
                                          <p:spTgt spid="39"/>
                                        </p:tgtEl>
                                      </p:cBhvr>
                                      <p:by x="250000" y="25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1.11111E-6 L 0.00013 -0.12037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7" presetClass="emph" presetSubtype="0" repeatCount="indefinite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1000" autoRev="1" fill="remove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7" dur="1000" autoRev="1" fill="remov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" dur="1000" autoRev="1" fill="remov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1000" autoRev="1" fill="remov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40" grpId="0" animBg="1"/>
      <p:bldP spid="40" grpId="1" animBg="1"/>
      <p:bldP spid="43" grpId="0" animBg="1"/>
      <p:bldP spid="45" grpId="0" animBg="1"/>
      <p:bldP spid="46" grpId="0"/>
      <p:bldP spid="48" grpId="0"/>
      <p:bldP spid="50" grpId="0"/>
      <p:bldP spid="55" grpId="0"/>
      <p:bldP spid="56" grpId="0"/>
      <p:bldP spid="67" grpId="0"/>
      <p:bldP spid="7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E6D3172-FA37-B377-78D5-733FC1B7D765}"/>
              </a:ext>
            </a:extLst>
          </p:cNvPr>
          <p:cNvGrpSpPr/>
          <p:nvPr/>
        </p:nvGrpSpPr>
        <p:grpSpPr>
          <a:xfrm>
            <a:off x="846467" y="3121741"/>
            <a:ext cx="14737640" cy="1104741"/>
            <a:chOff x="685801" y="3431162"/>
            <a:chExt cx="14737640" cy="110474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66EF428-CCCA-6D6A-0CE7-4759330B17A6}"/>
                </a:ext>
              </a:extLst>
            </p:cNvPr>
            <p:cNvGrpSpPr/>
            <p:nvPr/>
          </p:nvGrpSpPr>
          <p:grpSpPr>
            <a:xfrm>
              <a:off x="685801" y="3672303"/>
              <a:ext cx="6600213" cy="863600"/>
              <a:chOff x="-8836887" y="3336234"/>
              <a:chExt cx="6600213" cy="863600"/>
            </a:xfrm>
          </p:grpSpPr>
          <p:pic>
            <p:nvPicPr>
              <p:cNvPr id="8" name="Graphic 7">
                <a:extLst>
                  <a:ext uri="{FF2B5EF4-FFF2-40B4-BE49-F238E27FC236}">
                    <a16:creationId xmlns:a16="http://schemas.microsoft.com/office/drawing/2014/main" id="{98E11F00-C63F-78AC-7511-AB19F2A370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r="45137"/>
              <a:stretch/>
            </p:blipFill>
            <p:spPr>
              <a:xfrm>
                <a:off x="-6052537" y="3336234"/>
                <a:ext cx="3815863" cy="863600"/>
              </a:xfrm>
              <a:prstGeom prst="rect">
                <a:avLst/>
              </a:prstGeom>
            </p:spPr>
          </p:pic>
          <p:pic>
            <p:nvPicPr>
              <p:cNvPr id="9" name="Graphic 8">
                <a:extLst>
                  <a:ext uri="{FF2B5EF4-FFF2-40B4-BE49-F238E27FC236}">
                    <a16:creationId xmlns:a16="http://schemas.microsoft.com/office/drawing/2014/main" id="{A7193E99-A66F-4CE9-FA36-B7AD3EDD80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l="62582"/>
              <a:stretch/>
            </p:blipFill>
            <p:spPr>
              <a:xfrm>
                <a:off x="-8836887" y="3336234"/>
                <a:ext cx="2908291" cy="863600"/>
              </a:xfrm>
              <a:prstGeom prst="rect">
                <a:avLst/>
              </a:prstGeom>
            </p:spPr>
          </p:pic>
        </p:grp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0A0A3A43-FA9C-E651-28F7-F4BF903AE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62582"/>
            <a:stretch/>
          </p:blipFill>
          <p:spPr>
            <a:xfrm>
              <a:off x="7097328" y="3672303"/>
              <a:ext cx="2908291" cy="863600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327E0432-4048-2003-1237-2D67277F43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27105" t="-27923"/>
            <a:stretch/>
          </p:blipFill>
          <p:spPr>
            <a:xfrm>
              <a:off x="9757737" y="3431162"/>
              <a:ext cx="5665704" cy="1104741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A92EC0C0-9B14-74A1-0E4A-ADD9F7BE2B4D}"/>
              </a:ext>
            </a:extLst>
          </p:cNvPr>
          <p:cNvSpPr/>
          <p:nvPr/>
        </p:nvSpPr>
        <p:spPr>
          <a:xfrm>
            <a:off x="685801" y="3121741"/>
            <a:ext cx="1936376" cy="1334463"/>
          </a:xfrm>
          <a:prstGeom prst="rect">
            <a:avLst/>
          </a:prstGeom>
          <a:noFill/>
          <a:ln w="381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D24F8E5-37D7-63EB-59E6-7E2F873438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4730" y="3542727"/>
            <a:ext cx="710320" cy="49248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2585B09-E4B6-3E63-D64E-53993D6038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709534" y="3596602"/>
            <a:ext cx="285750" cy="47625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CFD3AFBD-0B78-3ED9-56E2-34939D8196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0210" y="3542727"/>
            <a:ext cx="714840" cy="49562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39E91AD-583E-5AF7-A624-7C9802FF8EE7}"/>
              </a:ext>
            </a:extLst>
          </p:cNvPr>
          <p:cNvSpPr/>
          <p:nvPr/>
        </p:nvSpPr>
        <p:spPr>
          <a:xfrm>
            <a:off x="2770094" y="0"/>
            <a:ext cx="942190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E0DB3F-70EC-64D3-23A3-1BFFD56A24FD}"/>
              </a:ext>
            </a:extLst>
          </p:cNvPr>
          <p:cNvSpPr/>
          <p:nvPr/>
        </p:nvSpPr>
        <p:spPr>
          <a:xfrm>
            <a:off x="0" y="1"/>
            <a:ext cx="93229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619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1.85185E-6 L -1.078 0.00069 " pathEditMode="relative" rAng="0" ptsTypes="AA">
                                      <p:cBhvr>
                                        <p:cTn id="6" dur="1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906" y="2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2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3.7037E-6 L 0.00013 0.02199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8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7.40741E-7 L -1.07096 -0.0037 " pathEditMode="relative" rAng="0" ptsTypes="AA">
                                      <p:cBhvr>
                                        <p:cTn id="10" dur="1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555" y="-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3A3FE70-9815-11EE-F6DC-3F50AB5CFE36}"/>
              </a:ext>
            </a:extLst>
          </p:cNvPr>
          <p:cNvSpPr/>
          <p:nvPr/>
        </p:nvSpPr>
        <p:spPr>
          <a:xfrm>
            <a:off x="3105807" y="1344706"/>
            <a:ext cx="2111188" cy="426271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49B7C7-3832-6A15-FDDC-9BCF78A80ADA}"/>
              </a:ext>
            </a:extLst>
          </p:cNvPr>
          <p:cNvSpPr/>
          <p:nvPr/>
        </p:nvSpPr>
        <p:spPr>
          <a:xfrm>
            <a:off x="6253655" y="1344706"/>
            <a:ext cx="2111188" cy="426271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D4DEF5-7F7A-CDD3-5BB1-7C46E979F3AA}"/>
              </a:ext>
            </a:extLst>
          </p:cNvPr>
          <p:cNvSpPr txBox="1"/>
          <p:nvPr/>
        </p:nvSpPr>
        <p:spPr>
          <a:xfrm>
            <a:off x="199419" y="2786861"/>
            <a:ext cx="29063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Minimize binary classification loss: correctly predict hazard/no-hazard at each timestamp t</a:t>
            </a:r>
          </a:p>
        </p:txBody>
      </p:sp>
    </p:spTree>
    <p:extLst>
      <p:ext uri="{BB962C8B-B14F-4D97-AF65-F5344CB8AC3E}">
        <p14:creationId xmlns:p14="http://schemas.microsoft.com/office/powerpoint/2010/main" val="156364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5901</TotalTime>
  <Words>59</Words>
  <Application>Microsoft Macintosh PowerPoint</Application>
  <PresentationFormat>Widescreen</PresentationFormat>
  <Paragraphs>15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Lennox Anderson</dc:creator>
  <cp:lastModifiedBy>Lennox Anderson</cp:lastModifiedBy>
  <cp:revision>2</cp:revision>
  <dcterms:created xsi:type="dcterms:W3CDTF">2025-09-30T17:26:00Z</dcterms:created>
  <dcterms:modified xsi:type="dcterms:W3CDTF">2025-10-04T22:54:09Z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1baa1a6-d374-4699-9530-c7865f4b83b0_Enabled">
    <vt:lpwstr>true</vt:lpwstr>
  </property>
  <property fmtid="{D5CDD505-2E9C-101B-9397-08002B2CF9AE}" pid="3" name="MSIP_Label_c1baa1a6-d374-4699-9530-c7865f4b83b0_SetDate">
    <vt:lpwstr>2025-09-30T20:32:49Z</vt:lpwstr>
  </property>
  <property fmtid="{D5CDD505-2E9C-101B-9397-08002B2CF9AE}" pid="4" name="MSIP_Label_c1baa1a6-d374-4699-9530-c7865f4b83b0_Method">
    <vt:lpwstr>Standard</vt:lpwstr>
  </property>
  <property fmtid="{D5CDD505-2E9C-101B-9397-08002B2CF9AE}" pid="5" name="MSIP_Label_c1baa1a6-d374-4699-9530-c7865f4b83b0_Name">
    <vt:lpwstr>Non-Public</vt:lpwstr>
  </property>
  <property fmtid="{D5CDD505-2E9C-101B-9397-08002B2CF9AE}" pid="6" name="MSIP_Label_c1baa1a6-d374-4699-9530-c7865f4b83b0_SiteId">
    <vt:lpwstr>79c5cf82-8360-407c-8ee6-ec7903dd2d1a</vt:lpwstr>
  </property>
  <property fmtid="{D5CDD505-2E9C-101B-9397-08002B2CF9AE}" pid="7" name="MSIP_Label_c1baa1a6-d374-4699-9530-c7865f4b83b0_ActionId">
    <vt:lpwstr>44871cbc-3051-4813-868d-c97f56f5500f</vt:lpwstr>
  </property>
  <property fmtid="{D5CDD505-2E9C-101B-9397-08002B2CF9AE}" pid="8" name="MSIP_Label_c1baa1a6-d374-4699-9530-c7865f4b83b0_ContentBits">
    <vt:lpwstr>2</vt:lpwstr>
  </property>
  <property fmtid="{D5CDD505-2E9C-101B-9397-08002B2CF9AE}" pid="9" name="ClassificationContentMarkingFooterLocations">
    <vt:lpwstr>Office Theme:8</vt:lpwstr>
  </property>
  <property fmtid="{D5CDD505-2E9C-101B-9397-08002B2CF9AE}" pid="10" name="ClassificationContentMarkingFooterText">
    <vt:lpwstr>Non-Public</vt:lpwstr>
  </property>
</Properties>
</file>